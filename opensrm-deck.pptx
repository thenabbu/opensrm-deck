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naming the friction nobody defends: the portal makes you click five pages to answer one question. This is the product that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items are literal: the portal splits them across five pages behind a captcha and a fresh login. The student's actual question is much narrower than the portal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self-guarding card is the design thesis. The page is only ever as loud as your data warrants, so empty data produces empty space rather than placeholder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students want is not their percentage, it is their remaining room to manoeuvre. Colour appears only when something is actually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failed fetch degrades to last-good data instead of an error page. That is the resilience claim, and it is structural, not a retry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rate limits are the honest part of this slide. They exist because every sync is a real login against a system that neither wants nor expects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campus clock runs sixty minutes off for the first four periods. OpenSRM corrects it on read, and a test pins the corrected grid against the legacy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Marks are only useful if you can see which component is still open. The dates matter more than the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trust slide. Say the two promises plainly: it only reads, and it is honest about attendance. Do not oversell the autofill, frame it as the exception that proves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my data is the honest counterweight to caching someone's academic record. It has to be one transaction, or it is not a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Node at runtime, no CDN, no external captcha SaaS. Every dependency that could fail at 2am has been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URL and stop. Do not add a feature list here, the deck has already made the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" y="1136621"/>
            <a:ext cx="330191" cy="330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169" y="1206469"/>
            <a:ext cx="3809904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2F3F5"/>
                </a:solidFill>
                <a:latin typeface="Inter"/>
              </a:rPr>
              <a:t>OpenSRM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1771605"/>
            <a:ext cx="3936901" cy="126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600" b="1">
                <a:solidFill>
                  <a:srgbClr val="F2F3F5"/>
                </a:solidFill>
                <a:latin typeface="Inter"/>
              </a:rPr>
              <a:t>Your whole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730431"/>
            <a:ext cx="3936901" cy="761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600" b="1">
                <a:solidFill>
                  <a:srgbClr val="FFB020"/>
                </a:solidFill>
                <a:latin typeface="Inter"/>
              </a:rPr>
              <a:t>on one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3809904"/>
            <a:ext cx="3873403" cy="825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A self-hosted dashboard over the SRM Student Portal. One login, one screen, no five-page crawl to answer a single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5079872"/>
            <a:ext cx="387340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068"/>
                </a:solidFill>
                <a:latin typeface="Consolas"/>
              </a:rPr>
              <a:t>github.com/thenabbu/OpenSRM  ·  srm.200871.xyz  ·  v1.31.0  ·  MIT</a:t>
            </a:r>
          </a:p>
        </p:txBody>
      </p:sp>
      <p:pic>
        <p:nvPicPr>
          <p:cNvPr id="9" name="Picture 8" descr="dashboard-1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869" y="0"/>
            <a:ext cx="698482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587460"/>
            <a:ext cx="10159745" cy="761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6800" b="1">
                <a:solidFill>
                  <a:srgbClr val="F2F3F5"/>
                </a:solidFill>
                <a:latin typeface="Inter"/>
              </a:rPr>
              <a:t>Five pages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381190"/>
            <a:ext cx="10159745" cy="761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6800" b="1">
                <a:solidFill>
                  <a:srgbClr val="FFB020"/>
                </a:solidFill>
                <a:latin typeface="Inter"/>
              </a:rPr>
              <a:t>one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3682907"/>
            <a:ext cx="1396965" cy="355591"/>
          </a:xfrm>
          <a:prstGeom prst="rect">
            <a:avLst/>
          </a:prstGeom>
          <a:noFill/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>
                <a:solidFill>
                  <a:srgbClr val="8B9099"/>
                </a:solidFill>
                <a:latin typeface="Inter"/>
              </a:rPr>
              <a:t>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3243" y="3682907"/>
            <a:ext cx="1396965" cy="355591"/>
          </a:xfrm>
          <a:prstGeom prst="rect">
            <a:avLst/>
          </a:prstGeom>
          <a:noFill/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>
                <a:solidFill>
                  <a:srgbClr val="8B9099"/>
                </a:solidFill>
                <a:latin typeface="Inter"/>
              </a:rPr>
              <a:t>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4505" y="3682907"/>
            <a:ext cx="1396965" cy="355591"/>
          </a:xfrm>
          <a:prstGeom prst="rect">
            <a:avLst/>
          </a:prstGeom>
          <a:noFill/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>
                <a:solidFill>
                  <a:srgbClr val="8B9099"/>
                </a:solidFill>
                <a:latin typeface="Inter"/>
              </a:rPr>
              <a:t>Timetable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5767" y="3682907"/>
            <a:ext cx="1454113" cy="355591"/>
          </a:xfrm>
          <a:prstGeom prst="rect">
            <a:avLst/>
          </a:prstGeom>
          <a:noFill/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>
                <a:solidFill>
                  <a:srgbClr val="8B9099"/>
                </a:solidFill>
                <a:latin typeface="Inter"/>
              </a:rPr>
              <a:t>Exam schedule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64178" y="3682907"/>
            <a:ext cx="2197045" cy="355591"/>
          </a:xfrm>
          <a:prstGeom prst="rect">
            <a:avLst/>
          </a:prstGeom>
          <a:noFill/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>
                <a:solidFill>
                  <a:srgbClr val="8B9099"/>
                </a:solidFill>
                <a:latin typeface="Inter"/>
              </a:rPr>
              <a:t>Subject to teacher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80" y="4698882"/>
            <a:ext cx="31749" cy="571485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4225" y="4730631"/>
            <a:ext cx="7302317" cy="571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0">
                <a:solidFill>
                  <a:srgbClr val="F2F3F5"/>
                </a:solidFill>
                <a:latin typeface="Inter"/>
              </a:rPr>
              <a:t>Am I safe to skip the next class?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079472"/>
            <a:ext cx="10667733" cy="571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1">
                <a:solidFill>
                  <a:srgbClr val="F2F3F5"/>
                </a:solidFill>
                <a:latin typeface="Inter"/>
              </a:rPr>
              <a:t>What the dashboard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714457"/>
            <a:ext cx="8254793" cy="571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Every card knows its own emptiness. A widget with no data does not render, and a card with no widgets does not render either.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2730431"/>
            <a:ext cx="2539936" cy="2095447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75" y="2984425"/>
            <a:ext cx="2158945" cy="698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1">
                <a:solidFill>
                  <a:srgbClr val="FFB020"/>
                </a:solidFill>
                <a:latin typeface="Inter"/>
              </a:rP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75" y="3714657"/>
            <a:ext cx="2158945" cy="444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2F3F5"/>
                </a:solidFill>
                <a:latin typeface="Inter"/>
              </a:rPr>
              <a:t>attendance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4063898"/>
            <a:ext cx="2158945" cy="63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A6068"/>
                </a:solidFill>
                <a:latin typeface="Inter"/>
              </a:rPr>
              <a:t>per subject, measured, not averaged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3363" y="2730431"/>
            <a:ext cx="2539936" cy="2095447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1957" y="2984425"/>
            <a:ext cx="2158945" cy="698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1">
                <a:solidFill>
                  <a:srgbClr val="FFB020"/>
                </a:solidFill>
                <a:latin typeface="Inter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1957" y="3714657"/>
            <a:ext cx="2158945" cy="444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2F3F5"/>
                </a:solidFill>
                <a:latin typeface="Inter"/>
              </a:rPr>
              <a:t>classes you may still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1957" y="4063898"/>
            <a:ext cx="2158945" cy="63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A6068"/>
                </a:solidFill>
                <a:latin typeface="Inter"/>
              </a:rPr>
              <a:t>example: 18 of 24 attended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4745" y="2730431"/>
            <a:ext cx="2539936" cy="2095447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3339" y="2984425"/>
            <a:ext cx="2158945" cy="698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1">
                <a:solidFill>
                  <a:srgbClr val="FFB020"/>
                </a:solidFill>
                <a:latin typeface="Inter"/>
              </a:rPr>
              <a:t>24h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3339" y="3714657"/>
            <a:ext cx="2158945" cy="444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2F3F5"/>
                </a:solidFill>
                <a:latin typeface="Inter"/>
              </a:rPr>
              <a:t>cold data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3339" y="4063898"/>
            <a:ext cx="2158945" cy="63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A6068"/>
                </a:solidFill>
                <a:latin typeface="Inter"/>
              </a:rPr>
              <a:t>profile and courses reused until stale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6127" y="2730431"/>
            <a:ext cx="2539936" cy="2095447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4721" y="2984425"/>
            <a:ext cx="2158945" cy="6984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1">
                <a:solidFill>
                  <a:srgbClr val="FFB020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4721" y="3714657"/>
            <a:ext cx="2158945" cy="444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2F3F5"/>
                </a:solidFill>
                <a:latin typeface="Inter"/>
              </a:rPr>
              <a:t>portal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4721" y="4063898"/>
            <a:ext cx="2158945" cy="63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A6068"/>
                </a:solidFill>
                <a:latin typeface="Inter"/>
              </a:rPr>
              <a:t>serialized behind a bounded queue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460463"/>
            <a:ext cx="3809904" cy="1079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2F3F5"/>
                </a:solidFill>
                <a:latin typeface="Inter"/>
              </a:rPr>
              <a:t>Attendance that does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539936"/>
            <a:ext cx="3809904" cy="825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Not your percentage. How many classes you can still miss and stay above the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3498762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5974" y="3428914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Meter per subject against the 75% threshold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1980" y="3759105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61980" y="3879752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5974" y="3809904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Pinned attended / needed / total numbers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1980" y="4140096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1980" y="4260743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974" y="4190895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Semester skip budgets in working days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980" y="4521086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1980" y="4641733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5974" y="4571885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Colour only on deviation, never on healthy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1980" y="4902077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ttendance-1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2" y="1015974"/>
            <a:ext cx="6349841" cy="4825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888977"/>
            <a:ext cx="10159745" cy="507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F3F5"/>
                </a:solidFill>
                <a:latin typeface="Inter"/>
              </a:rPr>
              <a:t>Cache first, portal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473163"/>
            <a:ext cx="7937301" cy="507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One Flask process, one SQLite file, one fetch pipeline. The whole data path, portal to pixel.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2222444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476" y="2412939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36" y="2387540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PWA shell, installable on Android, iOS and 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80" y="2895527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76" y="3086022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Cloudflare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9936" y="3060623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Tunnel for HTTPS, no open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0" y="3568610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476" y="3759105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Flask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9936" y="3733706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captcha OCR, login, parse, persist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980" y="4241693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476" y="4432189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9936" y="4406789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every page renders from here, not from the portal</a:t>
            </a:r>
          </a:p>
        </p:txBody>
      </p:sp>
      <p:pic>
        <p:nvPicPr>
          <p:cNvPr id="17" name="Picture 1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831" y="2222444"/>
            <a:ext cx="4698882" cy="2984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952476"/>
            <a:ext cx="10159745" cy="507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F3F5"/>
                </a:solidFill>
                <a:latin typeface="Inter"/>
              </a:rPr>
              <a:t>The pipeline,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523961"/>
            <a:ext cx="8889777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The captcha is solved while you are still typing your password.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1980" y="2158945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1980" y="2349441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PREFLIGHT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3930" y="2311342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OCR solves the captcha on password-field focus, kept warm 150 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1980" y="2844728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1980" y="3022524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3930" y="2984425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Pure HTTP POST, up to 3 captcha re-solves, wrong password caught on attempt 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980" y="3517811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1980" y="3695607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HOT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3930" y="3657508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Attendance 9, marks 13, timetable 10, exams 126, refreshed every sync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1980" y="4190895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1980" y="4368690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COLD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3930" y="4330591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Profile 17, courses 7, refreshed only past 24 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1980" y="4863978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1980" y="5041773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3930" y="5003674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3 scrapes per NetID per 10 min, 10 logins per IP per hour, 30 requests per 10 min aggregate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980" y="5537061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460463"/>
            <a:ext cx="3809904" cy="1079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2F3F5"/>
                </a:solidFill>
                <a:latin typeface="Inter"/>
              </a:rPr>
              <a:t>Timetable you can read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539936"/>
            <a:ext cx="3809904" cy="825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The portal's own grid, corrected for the campus clock, painted from cache.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3498762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5974" y="3428914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Official grid offsets applied per period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1980" y="3759105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61980" y="3879752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5974" y="3809904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Break and lunch dividers the portal never draws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1980" y="4140096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1980" y="4260743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974" y="4190895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Left rim colour coded by attendance risk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980" y="4521086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1980" y="4641733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5974" y="4571885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Paints instantly even when a fetch fails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1980" y="4902077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timetable-1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2" y="1015974"/>
            <a:ext cx="6349841" cy="4825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460463"/>
            <a:ext cx="3809904" cy="1079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2F3F5"/>
                </a:solidFill>
                <a:latin typeface="Inter"/>
              </a:rPr>
              <a:t>Marks, component by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539936"/>
            <a:ext cx="3809904" cy="825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Internal marks with entered dates, and IE-1 and IE-2 roles derived from the component maxima.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3498762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5974" y="3428914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Component-wise marks per subject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1980" y="3759105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61980" y="3879752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5974" y="3809904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Entered date on every component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1980" y="4140096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1980" y="4260743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974" y="4190895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IE roles derived, confirmable per class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980" y="4521086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1980" y="4641733"/>
            <a:ext cx="57148" cy="57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5974" y="4571885"/>
            <a:ext cx="3555911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Feeds GPA prediction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1980" y="4902077"/>
            <a:ext cx="3809905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marks-1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2" y="1015974"/>
            <a:ext cx="6349841" cy="4825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2031949"/>
            <a:ext cx="10159745" cy="1396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0A0B0D"/>
                </a:solidFill>
                <a:latin typeface="Inter"/>
              </a:rPr>
              <a:t>It only ever reads from the portal.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3682907"/>
            <a:ext cx="7937301" cy="126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2B2205"/>
                </a:solidFill>
                <a:latin typeface="Inter"/>
              </a:rPr>
              <a:t>The single feature that writes is mid-semester feedback autofill. It is opt-in, and it shows you exactly what it will submit before it submits anything.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888977"/>
            <a:ext cx="10159745" cy="507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F3F5"/>
                </a:solidFill>
                <a:latin typeface="Inter"/>
              </a:rPr>
              <a:t>Private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473163"/>
            <a:ext cx="7937301" cy="507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A leaked database should yield no live sessions. That is a design constraint, not a hardening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980" y="2222444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476" y="2412939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Fernet at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9936" y="2387540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Passwords encrypted, rotation supported without data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80" y="2895527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76" y="3086022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sha256 digests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9936" y="3060623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Session tokens stored hashed, never in the clear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0" y="3568610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476" y="3759105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Strict CSP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9936" y="3733706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No external origins, no third-party scripts, fonts or trackers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980" y="4241693"/>
            <a:ext cx="5587860" cy="609584"/>
          </a:xfrm>
          <a:prstGeom prst="rect">
            <a:avLst/>
          </a:prstGeom>
          <a:solidFill>
            <a:srgbClr val="121417"/>
          </a:solidFill>
          <a:ln>
            <a:solidFill>
              <a:srgbClr val="26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476" y="4432189"/>
            <a:ext cx="146046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020"/>
                </a:solidFill>
                <a:latin typeface="Inter"/>
              </a:rPr>
              <a:t>One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9936" y="4406789"/>
            <a:ext cx="3619409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B9099"/>
                </a:solidFill>
                <a:latin typeface="Inter"/>
              </a:rPr>
              <a:t>Delete my data erases the account in a single atomic step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952476"/>
            <a:ext cx="10159745" cy="507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F3F5"/>
                </a:solidFill>
                <a:latin typeface="Inter"/>
              </a:rPr>
              <a:t>Built like production, because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523961"/>
            <a:ext cx="8889777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8B9099"/>
                </a:solidFill>
                <a:latin typeface="Inter"/>
              </a:rPr>
              <a:t>The unglamorous parts that decide whether a scraper survives a semester.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1980" y="2158945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1980" y="2349441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3930" y="2311342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Flask 3.1, Python 3.11, gunicorn gthread, single worker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1980" y="2844728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1980" y="3022524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3930" y="2984425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SQLite, versioned migration registry, schema v17 across 16 migrations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980" y="3517811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1980" y="3695607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3930" y="3657508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Tailwind 4.3.3 and daisyUI 5.7.46 pre-compiled, no runtime CDN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1980" y="4190895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1980" y="4368690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CAPTCHA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3930" y="4330591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ddddocr, self-contained OCR, no external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1980" y="4863978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1980" y="5041773"/>
            <a:ext cx="1904952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B020"/>
                </a:solidFill>
                <a:latin typeface="Consolas"/>
              </a:rPr>
              <a:t>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3930" y="5003674"/>
            <a:ext cx="8635783" cy="38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2F3F5"/>
                </a:solidFill>
                <a:latin typeface="Inter"/>
              </a:rPr>
              <a:t>GitHub Actions lint, unit, docker and e2e, then build and push to GHCR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980" y="5537061"/>
            <a:ext cx="10667734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904952"/>
            <a:ext cx="7619809" cy="825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>
                <a:solidFill>
                  <a:srgbClr val="FFB020"/>
                </a:solidFill>
                <a:latin typeface="Inter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793930"/>
            <a:ext cx="6349841" cy="63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8B9099"/>
                </a:solidFill>
                <a:latin typeface="Inter"/>
              </a:rPr>
              <a:t>Sign in with your NetID. Everything else is already cached.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1980" y="3809904"/>
            <a:ext cx="10159746" cy="0"/>
          </a:xfrm>
          <a:prstGeom prst="line">
            <a:avLst/>
          </a:prstGeom>
          <a:ln w="12700">
            <a:solidFill>
              <a:srgbClr val="262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1980" y="4063898"/>
            <a:ext cx="3047923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068"/>
                </a:solidFill>
                <a:latin typeface="Consolas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4317891"/>
            <a:ext cx="304792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F2F3F5"/>
                </a:solidFill>
                <a:latin typeface="Consolas"/>
              </a:rPr>
              <a:t>srm.200871.xyz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7396" y="4063898"/>
            <a:ext cx="3047923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068"/>
                </a:solidFill>
                <a:latin typeface="Consola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396" y="4317891"/>
            <a:ext cx="304792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F2F3F5"/>
                </a:solidFill>
                <a:latin typeface="Consolas"/>
              </a:rPr>
              <a:t>github.com/thenabbu/OpenSRM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812" y="4063898"/>
            <a:ext cx="3047923" cy="253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068"/>
                </a:solidFill>
                <a:latin typeface="Consolas"/>
              </a:rPr>
              <a:t>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2812" y="4317891"/>
            <a:ext cx="3047923" cy="31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F2F3F5"/>
                </a:solidFill>
                <a:latin typeface="Consolas"/>
              </a:rPr>
              <a:t>MIT, not affiliated with SRM 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